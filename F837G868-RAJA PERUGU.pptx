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82" r:id="rId22"/>
    <p:sldId id="283" r:id="rId23"/>
    <p:sldId id="284" r:id="rId24"/>
    <p:sldId id="276" r:id="rId25"/>
    <p:sldId id="277" r:id="rId26"/>
    <p:sldId id="278" r:id="rId27"/>
    <p:sldId id="279" r:id="rId28"/>
    <p:sldId id="280" r:id="rId29"/>
    <p:sldId id="285" r:id="rId30"/>
    <p:sldId id="281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5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79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2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79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30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63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049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193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417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123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0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977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334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20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30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9340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8685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26822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427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0168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50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842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254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223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8076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958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01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6777F-D3E3-9CC3-B8CF-A2EF08852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B964A-8A6F-435E-6D7D-9D1C8F010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3DF8F-3140-C588-4BDF-947EFF8E4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FE855-88A9-CBF1-4638-53A1F42D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51CAE-CFAD-6068-801E-E0C475B4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2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DD914C4C-C815-4A6B-AD96-E370AAD3D8E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DAA919A1-9087-47A0-AAD1-01020309E768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90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051C3EB-60B0-602F-5CE5-BC5BDC683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 anchor="b">
            <a:normAutofit/>
          </a:bodyPr>
          <a:lstStyle/>
          <a:p>
            <a:br>
              <a:rPr lang="en-US" dirty="0"/>
            </a:br>
            <a:r>
              <a:rPr lang="en-US" b="1" dirty="0"/>
              <a:t>FRAUD DETECTION FOR FINANCIAL RISK MANAGEMENT 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FFECD252-E34E-9D54-F814-5A9955EEA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/>
          <a:lstStyle/>
          <a:p>
            <a:r>
              <a:rPr lang="en-US" dirty="0"/>
              <a:t>RAJA PERUGU</a:t>
            </a:r>
          </a:p>
          <a:p>
            <a:r>
              <a:rPr lang="en-US" dirty="0"/>
              <a:t>WSU ID : F837G868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E319317-144B-AD1A-0E7D-1D0CE225D73C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67360" y="558800"/>
            <a:ext cx="5852160" cy="5435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718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4642-69B3-6196-2ECF-212E3388D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Previous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8D3D8-38AC-C8A3-2402-B677B33A6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8742680" cy="3810788"/>
          </a:xfrm>
        </p:spPr>
        <p:txBody>
          <a:bodyPr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/>
              <a:t>Understood dataset structure and attributes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/>
              <a:t>Inspected data types and data quality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/>
              <a:t>Checked for missing values and duplicates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/>
              <a:t>Performed basic statistical analysis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/>
              <a:t>Analyzed </a:t>
            </a:r>
            <a:r>
              <a:rPr lang="en-US" dirty="0" err="1"/>
              <a:t>isFraud</a:t>
            </a:r>
            <a:r>
              <a:rPr lang="en-US" dirty="0"/>
              <a:t> class imbalance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/>
              <a:t>Analyzed transaction types and their fraud rates </a:t>
            </a:r>
          </a:p>
        </p:txBody>
      </p:sp>
    </p:spTree>
    <p:extLst>
      <p:ext uri="{BB962C8B-B14F-4D97-AF65-F5344CB8AC3E}">
        <p14:creationId xmlns:p14="http://schemas.microsoft.com/office/powerpoint/2010/main" val="3973074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4F7F-9945-3A9C-C9E9-4D70241FD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Fraud Detection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B94E8-97C9-B008-3482-F2AB3D663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/>
              <a:t>Fraud data is highly imbalanced</a:t>
            </a:r>
            <a:r>
              <a:rPr lang="en-US" dirty="0"/>
              <a:t> — fraudulent transactions are rare compared to legitimate transactions.</a:t>
            </a:r>
            <a:br>
              <a:rPr lang="en-US" dirty="0"/>
            </a:br>
            <a:r>
              <a:rPr lang="en-US" i="1" dirty="0"/>
              <a:t>(</a:t>
            </a:r>
            <a:r>
              <a:rPr lang="en-US" b="1" i="1" dirty="0"/>
              <a:t>0.129% fraud</a:t>
            </a:r>
            <a:r>
              <a:rPr lang="en-US" i="1" dirty="0"/>
              <a:t> vs. </a:t>
            </a:r>
            <a:r>
              <a:rPr lang="en-US" b="1" i="1" dirty="0"/>
              <a:t>99.871% legitimate</a:t>
            </a:r>
            <a:r>
              <a:rPr lang="en-US" i="1" dirty="0"/>
              <a:t>.)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Accuracy can be misleading when fraud is rare, so the minority fraud class needs special attention.</a:t>
            </a:r>
            <a:br>
              <a:rPr lang="en-US" dirty="0"/>
            </a:br>
            <a:r>
              <a:rPr lang="en-US" i="1" dirty="0"/>
              <a:t>(A model could classify almost everything as legitimate and still achieve very high accuracy while missing fraud.)</a:t>
            </a:r>
            <a:r>
              <a:rPr lang="en-US" dirty="0"/>
              <a:t> </a:t>
            </a:r>
          </a:p>
          <a:p>
            <a:pPr lvl="0"/>
            <a:r>
              <a:rPr lang="en-US" b="1" u="sng" dirty="0" err="1"/>
              <a:t>Undersampling</a:t>
            </a:r>
            <a:r>
              <a:rPr lang="en-US" b="1" u="sng" dirty="0"/>
              <a:t> </a:t>
            </a:r>
            <a:r>
              <a:rPr lang="en-US" dirty="0"/>
              <a:t>: can reduce the large legitimate class and help the model learn fraud patterns more effectively.</a:t>
            </a:r>
            <a:br>
              <a:rPr lang="en-US" dirty="0"/>
            </a:br>
            <a:r>
              <a:rPr lang="en-US" i="1" dirty="0"/>
              <a:t>(Our dataset has </a:t>
            </a:r>
            <a:r>
              <a:rPr lang="en-US" b="1" i="1" dirty="0"/>
              <a:t>6.35M legitimate transactions vs. 8,213 fraud transactions</a:t>
            </a:r>
            <a:r>
              <a:rPr lang="en-US" i="1" dirty="0"/>
              <a:t>, so the legitimate class could be reduced during training.)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However, </a:t>
            </a:r>
            <a:r>
              <a:rPr lang="en-US" b="1" dirty="0" err="1"/>
              <a:t>undersampling</a:t>
            </a:r>
            <a:r>
              <a:rPr lang="en-US" b="1" dirty="0"/>
              <a:t> changes the original class distribution</a:t>
            </a:r>
            <a:r>
              <a:rPr lang="en-US" dirty="0"/>
              <a:t>, which can make the model's predicted fraud probabilities unreliable. </a:t>
            </a:r>
          </a:p>
          <a:p>
            <a:pPr lvl="0"/>
            <a:r>
              <a:rPr lang="en-US" b="1" dirty="0"/>
              <a:t>To address this, Dal </a:t>
            </a:r>
            <a:r>
              <a:rPr lang="en-US" b="1" dirty="0" err="1"/>
              <a:t>Pozzolo</a:t>
            </a:r>
            <a:r>
              <a:rPr lang="en-US" b="1" dirty="0"/>
              <a:t> et al. introduce probability calibration</a:t>
            </a:r>
            <a:r>
              <a:rPr lang="en-US" dirty="0"/>
              <a:t>, which adjusts the model's probabilities to account for the changed class distribution. The paper also shows why the </a:t>
            </a:r>
            <a:r>
              <a:rPr lang="en-US" b="1" dirty="0"/>
              <a:t>classification threshold can be adjusted</a:t>
            </a:r>
            <a:r>
              <a:rPr lang="en-US" dirty="0"/>
              <a:t> depending on the cost of different errors. </a:t>
            </a:r>
          </a:p>
          <a:p>
            <a:pPr lvl="0"/>
            <a:r>
              <a:rPr lang="en-US" dirty="0"/>
              <a:t>We can use these ideas when building our fraud models by testing </a:t>
            </a:r>
            <a:r>
              <a:rPr lang="en-US" dirty="0" err="1"/>
              <a:t>undersampling</a:t>
            </a:r>
            <a:r>
              <a:rPr lang="en-US" dirty="0"/>
              <a:t> on the training data, calibrating the resulting probabilities, and selecting a suitable fraud threshold instead of simply using the default 0.5 cutoff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6D0264-C6A5-C5EE-417C-3FB33D5C683D}"/>
              </a:ext>
            </a:extLst>
          </p:cNvPr>
          <p:cNvSpPr txBox="1"/>
          <p:nvPr/>
        </p:nvSpPr>
        <p:spPr>
          <a:xfrm>
            <a:off x="8466667" y="905352"/>
            <a:ext cx="3107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Reference: Dal </a:t>
            </a:r>
            <a:r>
              <a:rPr lang="en-US" sz="1200" b="1" dirty="0" err="1"/>
              <a:t>Pozzolo</a:t>
            </a:r>
            <a:r>
              <a:rPr lang="en-US" sz="1200" b="1" dirty="0"/>
              <a:t> et al. (2015), “Calibrating Probability with </a:t>
            </a:r>
            <a:r>
              <a:rPr lang="en-US" sz="1200" b="1" dirty="0" err="1"/>
              <a:t>Undersampling</a:t>
            </a:r>
            <a:r>
              <a:rPr lang="en-US" sz="1200" b="1" dirty="0"/>
              <a:t> for Unbalanced Classification.”</a:t>
            </a:r>
          </a:p>
        </p:txBody>
      </p:sp>
    </p:spTree>
    <p:extLst>
      <p:ext uri="{BB962C8B-B14F-4D97-AF65-F5344CB8AC3E}">
        <p14:creationId xmlns:p14="http://schemas.microsoft.com/office/powerpoint/2010/main" val="2503516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EFD3C-159D-B717-23C0-C88A6908F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F4110-AD8C-A98D-D83A-845F020FD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Class weighting:</a:t>
            </a:r>
            <a:r>
              <a:rPr lang="en-US" dirty="0"/>
              <a:t> Keep the training data intact while assigning greater importance to fraud during model training.</a:t>
            </a:r>
          </a:p>
          <a:p>
            <a:r>
              <a:rPr lang="en-US" b="1" dirty="0"/>
              <a:t>Performance </a:t>
            </a:r>
            <a:r>
              <a:rPr lang="en-US" b="1" dirty="0" err="1"/>
              <a:t>evaluation</a:t>
            </a:r>
            <a:r>
              <a:rPr lang="en-US" dirty="0" err="1"/>
              <a:t>:Apply</a:t>
            </a:r>
            <a:r>
              <a:rPr lang="en-US" dirty="0"/>
              <a:t> these strategies to our </a:t>
            </a:r>
            <a:r>
              <a:rPr lang="en-US" b="1" dirty="0"/>
              <a:t>Machine Learning </a:t>
            </a:r>
            <a:r>
              <a:rPr lang="en-US" dirty="0"/>
              <a:t>models and Compare the resulting models using </a:t>
            </a:r>
            <a:r>
              <a:rPr lang="en-US" b="1" dirty="0"/>
              <a:t>Precision, Recall, F1-score, AUPRC, and the Confusion Matrix</a:t>
            </a:r>
            <a:r>
              <a:rPr lang="en-US" dirty="0"/>
              <a:t>.</a:t>
            </a:r>
          </a:p>
          <a:p>
            <a:r>
              <a:rPr lang="en-US" b="1" dirty="0"/>
              <a:t>Ref : This approach is guided by He &amp; Garcia (2009) and Dal </a:t>
            </a:r>
            <a:r>
              <a:rPr lang="en-US" b="1" dirty="0" err="1"/>
              <a:t>Pozzolo</a:t>
            </a:r>
            <a:r>
              <a:rPr lang="en-US" b="1" dirty="0"/>
              <a:t> et al. (2015).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b="1" dirty="0"/>
              <a:t>Precision:</a:t>
            </a:r>
            <a:r>
              <a:rPr lang="en-US" dirty="0"/>
              <a:t> Of the transactions we flag as fraud, how many are actually fraud?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b="1" dirty="0"/>
              <a:t>Recall:</a:t>
            </a:r>
            <a:r>
              <a:rPr lang="en-US" dirty="0"/>
              <a:t> Of all actual fraud transactions, how many did we successfully detect?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b="1" dirty="0"/>
              <a:t>F1-score:</a:t>
            </a:r>
            <a:r>
              <a:rPr lang="en-US" dirty="0"/>
              <a:t> A balance between Precision and Recall.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b="1" dirty="0"/>
              <a:t>AUPRC:</a:t>
            </a:r>
            <a:r>
              <a:rPr lang="en-US" dirty="0"/>
              <a:t> Measures how well the model identifies fraud across different classification thresholds, focusing on the rare fraud class.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b="1" dirty="0"/>
              <a:t>Confusion Matrix:</a:t>
            </a:r>
            <a:r>
              <a:rPr lang="en-US" dirty="0"/>
              <a:t> Shows </a:t>
            </a:r>
            <a:r>
              <a:rPr lang="en-US" b="1" dirty="0"/>
              <a:t>correct and incorrect predictions</a:t>
            </a:r>
            <a:r>
              <a:rPr lang="en-US" dirty="0"/>
              <a:t> — fraud detected, fraud missed, legitimate correctly identified, and legitimate incorrectly flagged.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91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E4F8-AE9F-017B-74F3-60EA9EF12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&amp; </a:t>
            </a:r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F290A-ABAD-A6E1-CC10-853933C25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Why these models?</a:t>
            </a:r>
            <a:br>
              <a:rPr lang="en-US" dirty="0"/>
            </a:br>
            <a:r>
              <a:rPr lang="en-US" dirty="0"/>
              <a:t>We chose </a:t>
            </a:r>
            <a:r>
              <a:rPr lang="en-US" b="1" dirty="0"/>
              <a:t>Random Forest</a:t>
            </a:r>
            <a:r>
              <a:rPr lang="en-US" dirty="0"/>
              <a:t> because our dataset is tabular transaction data with potentially complex relationships between features. Random Forest combines multiple decision trees to learn these patterns more robustly. (</a:t>
            </a:r>
            <a:r>
              <a:rPr lang="en-US" b="1" dirty="0"/>
              <a:t>Ref..:</a:t>
            </a:r>
            <a:r>
              <a:rPr lang="en-US" b="1" dirty="0" err="1"/>
              <a:t>Breiman</a:t>
            </a:r>
            <a:r>
              <a:rPr lang="en-US" b="1" dirty="0"/>
              <a:t>, L. (2001). </a:t>
            </a:r>
            <a:r>
              <a:rPr lang="en-US" b="1" i="1" dirty="0"/>
              <a:t>Random forests.</a:t>
            </a:r>
            <a:r>
              <a:rPr lang="en-US" b="1" dirty="0"/>
              <a:t> Machine Learning</a:t>
            </a:r>
            <a:r>
              <a:rPr lang="en-US" dirty="0"/>
              <a:t>), which provides the foundation for the Random Forest approach. </a:t>
            </a:r>
          </a:p>
          <a:p>
            <a:pPr lvl="0"/>
            <a:r>
              <a:rPr lang="en-US" b="1" dirty="0"/>
              <a:t>Random Forest:</a:t>
            </a:r>
            <a:br>
              <a:rPr lang="en-US" dirty="0"/>
            </a:br>
            <a:r>
              <a:rPr lang="en-US" dirty="0"/>
              <a:t>Combines multiple randomized decision trees to learn patterns that distinguish fraudulent and legitimate transactions. </a:t>
            </a:r>
          </a:p>
          <a:p>
            <a:pPr lvl="0"/>
            <a:r>
              <a:rPr lang="en-US" b="1" dirty="0" err="1"/>
              <a:t>XGBoost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Uses a different tree-based </a:t>
            </a:r>
            <a:r>
              <a:rPr lang="en-US" b="1" dirty="0"/>
              <a:t>boosting approach</a:t>
            </a:r>
            <a:r>
              <a:rPr lang="en-US" dirty="0"/>
              <a:t>, building trees sequentially to improve previous errors. This allows us to compare two different ensemble methods for our fraud-detection problem.(</a:t>
            </a:r>
            <a:r>
              <a:rPr lang="en-US" b="1" dirty="0"/>
              <a:t>Ref… : Chen, T., &amp; </a:t>
            </a:r>
            <a:r>
              <a:rPr lang="en-US" b="1" dirty="0" err="1"/>
              <a:t>Guestrin</a:t>
            </a:r>
            <a:r>
              <a:rPr lang="en-US" b="1" dirty="0"/>
              <a:t>, C. (2016). </a:t>
            </a:r>
            <a:r>
              <a:rPr lang="en-US" b="1" i="1" dirty="0" err="1"/>
              <a:t>XGBoost</a:t>
            </a:r>
            <a:r>
              <a:rPr lang="en-US" b="1" i="1" dirty="0"/>
              <a:t>: A scalable tree boosting system.</a:t>
            </a:r>
            <a:r>
              <a:rPr lang="en-US" b="1" dirty="0"/>
              <a:t> KDD, 2016.)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116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E065D-805B-704D-0480-2046E5870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Explainability : SHAP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E3EA4-BDF4-A2D3-3D6B-2685D5862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Our fraud models can identify a transaction as fraudulent, but we also need to understand why the model made that prediction. </a:t>
            </a:r>
          </a:p>
          <a:p>
            <a:pPr lvl="0"/>
            <a:r>
              <a:rPr lang="en-US" b="1" dirty="0"/>
              <a:t>What is SHAP?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b="1" dirty="0"/>
              <a:t>SHAP </a:t>
            </a:r>
            <a:r>
              <a:rPr lang="en-US" dirty="0"/>
              <a:t>(</a:t>
            </a:r>
            <a:r>
              <a:rPr lang="en-US" dirty="0" err="1"/>
              <a:t>SHapley</a:t>
            </a:r>
            <a:r>
              <a:rPr lang="en-US" dirty="0"/>
              <a:t> Additive </a:t>
            </a:r>
            <a:r>
              <a:rPr lang="en-US" dirty="0" err="1"/>
              <a:t>exPlanations</a:t>
            </a:r>
            <a:r>
              <a:rPr lang="en-US" dirty="0"/>
              <a:t>) is an explainability method based on Shapley values that determines how individual features contribute to a model's prediction.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SHAP can show which transaction features push a prediction toward fraud or toward legitimate.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For a specific transaction, SHAP can show </a:t>
            </a:r>
            <a:r>
              <a:rPr lang="en-US" b="1" dirty="0"/>
              <a:t>which features contributed most to its fraud prediction</a:t>
            </a:r>
            <a:r>
              <a:rPr lang="en-US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By examining SHAP values across many transactions, we can identify which features are generally most influential in the model's fraud predictions.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590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187428-D964-6EBB-7D65-0B11A1DEC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85" y="812535"/>
            <a:ext cx="11395472" cy="523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302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CCF1-4C50-387F-4F6B-A56E582EE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A37C-75CC-E569-35B6-A1DD5B5A9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EDA on the fraud detection dataset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Create EDA visualizations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Analyze fraud vs. legitimate transaction patterns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Identify useful features for feature engineering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Begin feature engineering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Document initial findings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52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3F1E6-7F78-6B50-ABCB-85308B09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A4EF0-5899-43CB-5C42-A3F91AB21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Loaded and understood the 6.36M-row transaction dataset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Checked data types, missing values and duplicates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Measured severe class imbalance: 0.129% fraud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Analyzed transaction types and initial fraud rates</a:t>
            </a:r>
          </a:p>
        </p:txBody>
      </p:sp>
    </p:spTree>
    <p:extLst>
      <p:ext uri="{BB962C8B-B14F-4D97-AF65-F5344CB8AC3E}">
        <p14:creationId xmlns:p14="http://schemas.microsoft.com/office/powerpoint/2010/main" val="1081582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B4E5-44CB-0182-5472-03F6BE04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 TASKS(WEEK -3)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8A957-9CB9-826E-ACB6-5F539B931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Transaction amount analysis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Sender and receiver balance behavior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Fraud-rate behavior across time steps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Numerical feature relationship analysis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355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DA467-62CE-B614-F1E0-D234D312A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Transaction amount analysis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ABCB890-B189-2BA0-E779-91B21B222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328" y="1386777"/>
            <a:ext cx="4716272" cy="1295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F5DB84-0261-D6DA-A6B6-9435CA8DD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8" y="2795111"/>
            <a:ext cx="6023994" cy="36971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40AEDC-1061-ABE1-908D-2C5B0C52BAB3}"/>
              </a:ext>
            </a:extLst>
          </p:cNvPr>
          <p:cNvSpPr txBox="1"/>
          <p:nvPr/>
        </p:nvSpPr>
        <p:spPr>
          <a:xfrm>
            <a:off x="7661995" y="2329166"/>
            <a:ext cx="34293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INTERPRETATION :</a:t>
            </a:r>
          </a:p>
          <a:p>
            <a:endParaRPr lang="en-US" b="1" dirty="0"/>
          </a:p>
          <a:p>
            <a:r>
              <a:rPr lang="en-US" dirty="0"/>
              <a:t>Fraudulent transactions tend to involve much larger amounts.</a:t>
            </a:r>
          </a:p>
          <a:p>
            <a:endParaRPr lang="en-US" dirty="0"/>
          </a:p>
          <a:p>
            <a:r>
              <a:rPr lang="en-US" dirty="0"/>
              <a:t>Amount distributions overlap, so amount alone cannot identify fraud.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405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4F09-4B8C-53F9-20A1-D5C41D589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Sender and receiver balance behavior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0847B9-72A1-2738-1580-0C307462DF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520" y="1429598"/>
            <a:ext cx="3977985" cy="1371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B8F18A-16E0-591E-15DD-1CB1296E5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1075813"/>
            <a:ext cx="5782578" cy="17255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C52C9-23A1-F282-B239-52FC249EC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18725"/>
            <a:ext cx="4905881" cy="37784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F2F31C-F6E7-7348-5C91-12F376989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918724"/>
            <a:ext cx="5033654" cy="377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88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FF5FC-D1DD-8A83-43EC-F82A774A3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Fraud-rate behavior across time steps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875B83-7680-0B91-4E6E-FAA0041CB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9600" y="1810830"/>
            <a:ext cx="4435224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427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D79CC-B2A7-86E7-A9A9-8F15EB2F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E3E3C1-D65E-5E52-EDFE-24BCED5A7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4427" y="931889"/>
            <a:ext cx="10064289" cy="45036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12E4A6-5D78-46F7-5802-3E2687719631}"/>
              </a:ext>
            </a:extLst>
          </p:cNvPr>
          <p:cNvSpPr txBox="1"/>
          <p:nvPr/>
        </p:nvSpPr>
        <p:spPr>
          <a:xfrm>
            <a:off x="551857" y="5568910"/>
            <a:ext cx="110882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Fraud rates vary significantly across time steps, with several sharp spikes, especially in later periods.</a:t>
            </a:r>
            <a:br>
              <a:rPr lang="en-US" dirty="0"/>
            </a:br>
            <a:r>
              <a:rPr lang="en-US" dirty="0"/>
              <a:t>However, these spikes may be influenced by low transaction volume in some hours, so they do not necessarily mean fraud steadily increases over time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76157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478C-6FBB-87F9-D6B7-1F80DC9F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Numerical feature relationship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B6CE10-90BC-BC89-5661-775039E184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9292" y="1498018"/>
            <a:ext cx="4934188" cy="32585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796EFE-2968-0E49-FB5E-6127E1E47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42" y="1498018"/>
            <a:ext cx="5852058" cy="34397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831551-A290-1C29-7F34-F30BF8AB954E}"/>
              </a:ext>
            </a:extLst>
          </p:cNvPr>
          <p:cNvSpPr txBox="1"/>
          <p:nvPr/>
        </p:nvSpPr>
        <p:spPr>
          <a:xfrm>
            <a:off x="354009" y="5226578"/>
            <a:ext cx="112287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Most original numerical features have weak linear correlation with </a:t>
            </a:r>
            <a:r>
              <a:rPr lang="en-US" dirty="0" err="1"/>
              <a:t>fraud.amount</a:t>
            </a:r>
            <a:r>
              <a:rPr lang="en-US" dirty="0"/>
              <a:t> is the highest at only about 0.08.The strong correlations are mainly between related balance fields, suggesting engineered features and nonlinear models may capture fraud patterns better.</a:t>
            </a:r>
          </a:p>
        </p:txBody>
      </p:sp>
    </p:spTree>
    <p:extLst>
      <p:ext uri="{BB962C8B-B14F-4D97-AF65-F5344CB8AC3E}">
        <p14:creationId xmlns:p14="http://schemas.microsoft.com/office/powerpoint/2010/main" val="1068254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227F-73D4-12A6-3469-2FF9CF3F1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WEEK(WEEK -4 )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CD787-289F-2007-D89A-AD47A671A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Begin feature engineering based on EDA findings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Encode categorical transaction features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Create selected balance/time-based features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Prepare the dataset for imbalance handling and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864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FAE4-676A-67F5-9C6D-2B1103E48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AF6E6-A41E-D7B5-E710-35BB6751C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Completed Exploratory Data Analysis (EDA)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Identified key fraud patterns from amount, type, balance, and time analysis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Found strong sender-balance consistency signal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Prepared EDA findings for feature engineering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818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7F5D-F564-AFB0-D380-C1B26237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 (WEEK-4)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FF0A9-5FD8-C3CF-A019-C56438324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Created engineered features based on EDA findings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Encoded categorical transaction type features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Finalized a clean 14-feature modeling dataset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Reviewed classification metrics, formulas, and fraud interpretation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522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B92E-4918-A0FF-0DBD-C583B6030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Evaluation Metrics - Confusion Matrix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968E36-D45E-A86C-28AB-ABFDB878A8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3096594"/>
              </p:ext>
            </p:extLst>
          </p:nvPr>
        </p:nvGraphicFramePr>
        <p:xfrm>
          <a:off x="731838" y="1658937"/>
          <a:ext cx="10780710" cy="3539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3570">
                  <a:extLst>
                    <a:ext uri="{9D8B030D-6E8A-4147-A177-3AD203B41FA5}">
                      <a16:colId xmlns:a16="http://schemas.microsoft.com/office/drawing/2014/main" val="3704671552"/>
                    </a:ext>
                  </a:extLst>
                </a:gridCol>
                <a:gridCol w="3593570">
                  <a:extLst>
                    <a:ext uri="{9D8B030D-6E8A-4147-A177-3AD203B41FA5}">
                      <a16:colId xmlns:a16="http://schemas.microsoft.com/office/drawing/2014/main" val="484192799"/>
                    </a:ext>
                  </a:extLst>
                </a:gridCol>
                <a:gridCol w="3593570">
                  <a:extLst>
                    <a:ext uri="{9D8B030D-6E8A-4147-A177-3AD203B41FA5}">
                      <a16:colId xmlns:a16="http://schemas.microsoft.com/office/drawing/2014/main" val="1399889279"/>
                    </a:ext>
                  </a:extLst>
                </a:gridCol>
              </a:tblGrid>
              <a:tr h="1179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Actual / Predicted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Predicted Fraud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Predicted Legitimate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827763"/>
                  </a:ext>
                </a:extLst>
              </a:tr>
              <a:tr h="1179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Actual Fraud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True Positive (TP)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False Negative (FN)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3281346"/>
                  </a:ext>
                </a:extLst>
              </a:tr>
              <a:tr h="1179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Actual Legitimate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False Positive (FP)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True Negative (TN)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45812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3AAE208-4527-AE81-CF7B-3CD8BD860FF0}"/>
              </a:ext>
            </a:extLst>
          </p:cNvPr>
          <p:cNvSpPr txBox="1"/>
          <p:nvPr/>
        </p:nvSpPr>
        <p:spPr>
          <a:xfrm>
            <a:off x="660399" y="54765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Positive = Fraud</a:t>
            </a:r>
          </a:p>
          <a:p>
            <a:r>
              <a:rPr lang="en-US" dirty="0"/>
              <a:t>Negative = Legitimate</a:t>
            </a:r>
          </a:p>
        </p:txBody>
      </p:sp>
    </p:spTree>
    <p:extLst>
      <p:ext uri="{BB962C8B-B14F-4D97-AF65-F5344CB8AC3E}">
        <p14:creationId xmlns:p14="http://schemas.microsoft.com/office/powerpoint/2010/main" val="2314460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B426-4779-95E6-E766-AFB107090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20266E-46E4-B97C-F18B-308E66106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Out of all transactions, how many did the model classify correctly?</a:t>
                </a: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Accuracy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Accuracy is the percentage of all predictions that are correct</a:t>
                </a: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but in highly imbalanced fraud data it can be misleading because a model can achieve very high accuracy by mostly predicting the majority legitimate class.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20266E-46E4-B97C-F18B-308E66106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3" t="-371" r="-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0817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5904F-F5DD-1B25-E750-4F1FE707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7995DD-1F9E-56D1-A1AC-09503FFDDA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Out of all transactions the model predicted as fraud, how many were actually fraud?</a:t>
                </a: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Precision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Precision measures how reliable the model’s fraud alerts are. High precision means that when the model predicts fraud, it is usually correct.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7995DD-1F9E-56D1-A1AC-09503FFDDA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3" t="-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9504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D0D9B-97E2-A51B-FAF6-BA4EA55F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B7A81B-9CE6-D04E-B206-5B1A4566E3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Out of all the transactions that were actually fraud, how many did the model catch?</a:t>
                </a: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Recall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Recall measures how much of the actual fraud the model successfully detects. High recall means fewer fraudulent transactions are missed.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B7A81B-9CE6-D04E-B206-5B1A4566E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3" t="-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922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B8961-CD07-4BB9-F328-45766B7A0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F1-SCORE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D57F7-A860-6ACB-F167-91DD3E99F9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How well does the model balance precision and recall?</a:t>
                </a: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F1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=2×</m:t>
                    </m:r>
                    <m:f>
                      <m:fPr>
                        <m:ctrlPr>
                          <a:rPr lang="en-US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Recall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i="0">
                            <a:latin typeface="Cambria Math" panose="02040503050406030204" pitchFamily="18" charset="0"/>
                          </a:rPr>
                          <m:t>Recall</m:t>
                        </m:r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F1-score is the harmonic mean of precision and recall. It is useful when both false positives and false negatives matter and we want a balanced evaluation.</a:t>
                </a: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b="1" dirty="0"/>
                  <a:t>AUPRC — Area Under the Precision-Recall Curve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D57F7-A860-6ACB-F167-91DD3E99F9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3" t="-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272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B6CAF-A4FF-8D1E-DB74-072F3F8F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CREATED </a:t>
            </a:r>
            <a:r>
              <a:rPr lang="en-US" dirty="0" err="1"/>
              <a:t>FEATURES:sender</a:t>
            </a:r>
            <a:r>
              <a:rPr lang="en-US" dirty="0"/>
              <a:t> balance consistency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551BFE-3682-A116-85CD-7EF366F0EE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9000" y="1569888"/>
            <a:ext cx="6900333" cy="444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796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5E2F-B20E-294D-D214-8464821A5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06027"/>
            <a:ext cx="10741152" cy="1132258"/>
          </a:xfrm>
        </p:spPr>
        <p:txBody>
          <a:bodyPr>
            <a:normAutofit fontScale="90000"/>
          </a:bodyPr>
          <a:lstStyle/>
          <a:p>
            <a:r>
              <a:rPr lang="en-US" dirty="0"/>
              <a:t>encoded the `type` column into numerical transaction-type features.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F20E85-0416-5822-5F29-4966C90C6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1" y="2285216"/>
            <a:ext cx="7417838" cy="305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249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B20EF-DA7A-30EB-28D4-4550A57A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CREATED FEATURES: HOUR OF THE DAY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54069E-D4EF-71BD-75B7-784029172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059" y="1785164"/>
            <a:ext cx="3444538" cy="777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A5DA8F-3B12-466B-8AFB-5DF3A450D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59" y="2849617"/>
            <a:ext cx="4839119" cy="25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04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BCDA-93FC-5A64-FAA5-6468FAD87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EXCLUDED VARIABLES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89E3AE-A49B-71B0-3999-15DE0AE674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6739" y="2142027"/>
            <a:ext cx="5888167" cy="14817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1FD06D-619A-7390-43F4-CA7A9784151D}"/>
              </a:ext>
            </a:extLst>
          </p:cNvPr>
          <p:cNvSpPr txBox="1"/>
          <p:nvPr/>
        </p:nvSpPr>
        <p:spPr>
          <a:xfrm>
            <a:off x="948267" y="4200436"/>
            <a:ext cx="100499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We Do not use the raw </a:t>
            </a:r>
            <a:r>
              <a:rPr lang="en-US" dirty="0" err="1"/>
              <a:t>nameOrig</a:t>
            </a:r>
            <a:r>
              <a:rPr lang="en-US" dirty="0"/>
              <a:t> and </a:t>
            </a:r>
            <a:r>
              <a:rPr lang="en-US" dirty="0" err="1"/>
              <a:t>nameDest</a:t>
            </a:r>
            <a:r>
              <a:rPr lang="en-US" dirty="0"/>
              <a:t> IDs directly as model </a:t>
            </a:r>
            <a:r>
              <a:rPr lang="en-US" dirty="0" err="1"/>
              <a:t>features,we</a:t>
            </a:r>
            <a:r>
              <a:rPr lang="en-US" dirty="0"/>
              <a:t> can still keep them temporarily in the </a:t>
            </a:r>
            <a:r>
              <a:rPr lang="en-US" dirty="0" err="1"/>
              <a:t>dataframe</a:t>
            </a:r>
            <a:r>
              <a:rPr lang="en-US" dirty="0"/>
              <a:t> because later, if we want, we can derive behavioral features from them</a:t>
            </a:r>
          </a:p>
        </p:txBody>
      </p:sp>
    </p:spTree>
    <p:extLst>
      <p:ext uri="{BB962C8B-B14F-4D97-AF65-F5344CB8AC3E}">
        <p14:creationId xmlns:p14="http://schemas.microsoft.com/office/powerpoint/2010/main" val="19246128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257AC-C496-D4DB-1DD4-6E537A6E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DD512-CAD9-E3D6-CF7B-DEEBB422B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amount and balance columns → keep</a:t>
            </a:r>
          </a:p>
          <a:p>
            <a:pPr lvl="0"/>
            <a:r>
              <a:rPr lang="en-US" dirty="0" err="1"/>
              <a:t>sender_balance_error</a:t>
            </a:r>
            <a:r>
              <a:rPr lang="en-US" dirty="0"/>
              <a:t> → keep</a:t>
            </a:r>
          </a:p>
          <a:p>
            <a:pPr lvl="0"/>
            <a:r>
              <a:rPr lang="en-US" dirty="0" err="1"/>
              <a:t>sender_balance_consistency</a:t>
            </a:r>
            <a:r>
              <a:rPr lang="en-US" dirty="0"/>
              <a:t> → keep</a:t>
            </a:r>
          </a:p>
          <a:p>
            <a:pPr lvl="0"/>
            <a:r>
              <a:rPr lang="en-US" dirty="0"/>
              <a:t>encoded type_ columns → keep</a:t>
            </a:r>
          </a:p>
          <a:p>
            <a:pPr lvl="0"/>
            <a:r>
              <a:rPr lang="en-US" dirty="0"/>
              <a:t>step → keep</a:t>
            </a:r>
          </a:p>
          <a:p>
            <a:pPr lvl="0"/>
            <a:r>
              <a:rPr lang="en-US" dirty="0" err="1"/>
              <a:t>hour_of_day</a:t>
            </a:r>
            <a:r>
              <a:rPr lang="en-US" dirty="0"/>
              <a:t> → keep</a:t>
            </a:r>
          </a:p>
          <a:p>
            <a:pPr lvl="0"/>
            <a:r>
              <a:rPr lang="en-US" dirty="0" err="1"/>
              <a:t>nameOrig</a:t>
            </a:r>
            <a:r>
              <a:rPr lang="en-US" dirty="0"/>
              <a:t>, </a:t>
            </a:r>
            <a:r>
              <a:rPr lang="en-US" dirty="0" err="1"/>
              <a:t>nameDest</a:t>
            </a:r>
            <a:r>
              <a:rPr lang="en-US" dirty="0"/>
              <a:t> → exclude as raw IDs</a:t>
            </a:r>
          </a:p>
          <a:p>
            <a:pPr lvl="0"/>
            <a:r>
              <a:rPr lang="en-US" dirty="0"/>
              <a:t>original text type → exclude after encoding</a:t>
            </a:r>
          </a:p>
          <a:p>
            <a:pPr lvl="0"/>
            <a:r>
              <a:rPr lang="en-US" dirty="0" err="1"/>
              <a:t>isFlaggedFraud</a:t>
            </a:r>
            <a:r>
              <a:rPr lang="en-US" dirty="0"/>
              <a:t> → keep only for baseline comparison</a:t>
            </a:r>
          </a:p>
          <a:p>
            <a:pPr lvl="0"/>
            <a:r>
              <a:rPr lang="en-US" dirty="0" err="1"/>
              <a:t>isFraud</a:t>
            </a:r>
            <a:r>
              <a:rPr lang="en-US" dirty="0"/>
              <a:t> → target, not input</a:t>
            </a:r>
          </a:p>
        </p:txBody>
      </p:sp>
    </p:spTree>
    <p:extLst>
      <p:ext uri="{BB962C8B-B14F-4D97-AF65-F5344CB8AC3E}">
        <p14:creationId xmlns:p14="http://schemas.microsoft.com/office/powerpoint/2010/main" val="2766460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5CC1-33D6-55A7-38A4-91D83EF7D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WEEK(WEEK-4)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A4A77-6812-97B8-9316-CE067F8EA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Created engineered features based on EDA findings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Encoded categorical transaction type features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Finalized a clean 14-feature modeling dataset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Reviewed classification metrics, formulas, and fraud interpretation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7053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B5BFC-EBB8-0911-7F47-3422E0F3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 (week-5)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96174-50C4-39E2-7295-3F3C06EE6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Split data into training and testing sets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Apply imbalance methods only to the training data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Test </a:t>
            </a:r>
            <a:r>
              <a:rPr lang="en-US" dirty="0" err="1">
                <a:solidFill>
                  <a:srgbClr val="1A1D21"/>
                </a:solidFill>
              </a:rPr>
              <a:t>undersampling</a:t>
            </a:r>
            <a:r>
              <a:rPr lang="en-US" dirty="0">
                <a:solidFill>
                  <a:srgbClr val="1A1D21"/>
                </a:solidFill>
              </a:rPr>
              <a:t>, oversampling and class weighting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A1D21"/>
                </a:solidFill>
              </a:rPr>
              <a:t>Prepare balanced training versions for modeling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264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D97DC-12DC-3285-5540-0A682BD2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DONE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1C222-5261-C9AD-ED50-A1ADADB3A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Created stratified 80/20 train-test split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 Tested class weighting, random </a:t>
            </a:r>
            <a:r>
              <a:rPr lang="en-US" dirty="0" err="1"/>
              <a:t>undersampling</a:t>
            </a:r>
            <a:r>
              <a:rPr lang="en-US" dirty="0"/>
              <a:t> and random oversampling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 Evaluated each method with the same Logistic Regression baseline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 Compared precision, recall, F1, AUPRC and error counts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5530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22867-FB44-28C7-6CDB-8EF20933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SPLITTING THE DATA WITH IMBALNCE HANDLING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A6ED77-6480-1E17-43A3-8A6CB9842C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4025" y="1921876"/>
            <a:ext cx="4206605" cy="1333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C9867E-E687-CFC6-68D8-CC26567B6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505" y="1921876"/>
            <a:ext cx="4423535" cy="38720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FE5BE8-D835-4917-6C29-3D8295E032A6}"/>
              </a:ext>
            </a:extLst>
          </p:cNvPr>
          <p:cNvSpPr txBox="1"/>
          <p:nvPr/>
        </p:nvSpPr>
        <p:spPr>
          <a:xfrm>
            <a:off x="988906" y="3498427"/>
            <a:ext cx="420660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We split the dataset into </a:t>
            </a:r>
            <a:r>
              <a:rPr lang="en-US" b="1" dirty="0"/>
              <a:t>80% training data and 20% testing data</a:t>
            </a:r>
            <a:r>
              <a:rPr lang="en-US" dirty="0"/>
              <a:t> using stratification, so both sets keep nearly the same fraud-to-legitimate ratio as the original dataset.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training set is used for imbalance handling and model learning, while the test set remains untouched for fair evaluation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596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F41E4-DDF1-63AE-50A5-3E22512E0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WEIGHTING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1FCC-A537-9598-E9C1-F903BC82D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We keep the full training dataset unchanged, but give the rare fraud class a much higher weight so the model pays more attention to fraud during training.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This helps reduce the chance that the model ignores fraud just because legitimate transactions are far more common.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1FB839-0F88-385B-61DF-9F0927180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095" y="3001969"/>
            <a:ext cx="3863675" cy="35817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5412C4-CBBC-6204-FFD8-3A69AA9A4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491" y="3001969"/>
            <a:ext cx="2225233" cy="13031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C4CA10-F9F4-4888-2989-6CCF4A56EE9E}"/>
              </a:ext>
            </a:extLst>
          </p:cNvPr>
          <p:cNvSpPr txBox="1"/>
          <p:nvPr/>
        </p:nvSpPr>
        <p:spPr>
          <a:xfrm>
            <a:off x="5257800" y="4543888"/>
            <a:ext cx="51900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Class weighting achieved extremely high recall of 98.54%, detecting 1,619 of 1,643 fraud cases. However, precision was only 2.84% because 55,443 legitimate transactions were falsely flagged as fraud.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This shows that class weighting strongly improves fraud detection but produces too many false positives at the default threshold.</a:t>
            </a:r>
          </a:p>
        </p:txBody>
      </p:sp>
    </p:spTree>
    <p:extLst>
      <p:ext uri="{BB962C8B-B14F-4D97-AF65-F5344CB8AC3E}">
        <p14:creationId xmlns:p14="http://schemas.microsoft.com/office/powerpoint/2010/main" val="30289321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E8A5E-D687-CD47-E8E7-274F74675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UNDERSAMPLING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DA0DE-F82F-AA8F-BA86-4234CEE38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We reduce the very large legitimate class by randomly keeping only a smaller sample of legitimate transactions while keeping all fraud cases.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This creates a balanced training set so the model can learn fraud patterns without being dominated by the majority class.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C4CE01-E987-EC78-6A6F-170A7F85E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04" y="3092811"/>
            <a:ext cx="4625741" cy="1417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B72B51-31C8-EB91-7390-150360608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04" y="4679984"/>
            <a:ext cx="2903472" cy="14250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FB4197-5B35-484E-1730-E2C7CB970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982" y="2835784"/>
            <a:ext cx="3997685" cy="16692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36F288-683D-CD73-7878-6FC9EFA1F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901" y="2913320"/>
            <a:ext cx="2187130" cy="13869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3CB99C4-0A15-9DCC-C945-64F1380F6A6D}"/>
              </a:ext>
            </a:extLst>
          </p:cNvPr>
          <p:cNvSpPr txBox="1"/>
          <p:nvPr/>
        </p:nvSpPr>
        <p:spPr>
          <a:xfrm>
            <a:off x="4123267" y="4826000"/>
            <a:ext cx="685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/>
              <a:t>Undersampling</a:t>
            </a:r>
            <a:r>
              <a:rPr lang="en-US" dirty="0"/>
              <a:t> achieved the </a:t>
            </a:r>
            <a:r>
              <a:rPr lang="en-US" b="1" dirty="0"/>
              <a:t>highest recall at 98.90%</a:t>
            </a:r>
            <a:r>
              <a:rPr lang="en-US" dirty="0"/>
              <a:t>, catching </a:t>
            </a:r>
            <a:r>
              <a:rPr lang="en-US" b="1" dirty="0"/>
              <a:t>1,625 fraud cases</a:t>
            </a:r>
            <a:r>
              <a:rPr lang="en-US" dirty="0"/>
              <a:t> and missing only </a:t>
            </a:r>
            <a:r>
              <a:rPr lang="en-US" b="1" dirty="0"/>
              <a:t>18</a:t>
            </a:r>
            <a:r>
              <a:rPr lang="en-US" dirty="0"/>
              <a:t>.However, precision remained very low at </a:t>
            </a:r>
            <a:r>
              <a:rPr lang="en-US" b="1" dirty="0"/>
              <a:t>2.82%</a:t>
            </a:r>
            <a:r>
              <a:rPr lang="en-US" dirty="0"/>
              <a:t> because it still produced </a:t>
            </a:r>
            <a:r>
              <a:rPr lang="en-US" b="1" dirty="0"/>
              <a:t>56,091 false positives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So it was excellent at catching fraud, but it did not solve the false-alarm problem.</a:t>
            </a:r>
          </a:p>
        </p:txBody>
      </p:sp>
    </p:spTree>
    <p:extLst>
      <p:ext uri="{BB962C8B-B14F-4D97-AF65-F5344CB8AC3E}">
        <p14:creationId xmlns:p14="http://schemas.microsoft.com/office/powerpoint/2010/main" val="15010131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DD0C6-6358-D368-FB3A-3D3CD763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OVERSAMPLING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FB46E-78E1-32C7-857D-435650E95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We keep all legitimate transactions and increase the number of fraud examples by randomly duplicating existing fraud cases in the training data.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This gives the model more exposure to the minority fraud class without removing any legitimate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B33C0D-937A-C1A4-1EB7-625FD1407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11713"/>
            <a:ext cx="4128347" cy="1539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B230D1-D8E2-EEA2-3496-5E19CE61C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11747"/>
            <a:ext cx="3025402" cy="1272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490E9E-75C5-986A-184C-4BA68B20D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1475" y="2811713"/>
            <a:ext cx="2644369" cy="15012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51C4B6-C0C9-51B2-0341-E481EFFAB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838" y="2811713"/>
            <a:ext cx="2110923" cy="14479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39D30A-9B67-5B98-3246-B82993F7AA6C}"/>
              </a:ext>
            </a:extLst>
          </p:cNvPr>
          <p:cNvSpPr txBox="1"/>
          <p:nvPr/>
        </p:nvSpPr>
        <p:spPr>
          <a:xfrm>
            <a:off x="4008120" y="4511747"/>
            <a:ext cx="6667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Oversampling improved the overall balance of the model, increasing </a:t>
            </a:r>
            <a:r>
              <a:rPr lang="en-US" b="1" dirty="0"/>
              <a:t>precision to 11.58%</a:t>
            </a:r>
            <a:r>
              <a:rPr lang="en-US" dirty="0"/>
              <a:t>, </a:t>
            </a:r>
            <a:r>
              <a:rPr lang="en-US" b="1" dirty="0"/>
              <a:t>F1-score to 20.49%</a:t>
            </a:r>
            <a:r>
              <a:rPr lang="en-US" dirty="0"/>
              <a:t>, and </a:t>
            </a:r>
            <a:r>
              <a:rPr lang="en-US" b="1" dirty="0"/>
              <a:t>AUPRC to 68.97%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It also reduced false positives dramatically to </a:t>
            </a:r>
            <a:r>
              <a:rPr lang="en-US" b="1" dirty="0"/>
              <a:t>11,122</a:t>
            </a:r>
            <a:r>
              <a:rPr lang="en-US" dirty="0"/>
              <a:t>, although recall dropped to </a:t>
            </a:r>
            <a:r>
              <a:rPr lang="en-US" b="1" dirty="0"/>
              <a:t>88.68%</a:t>
            </a:r>
            <a:r>
              <a:rPr lang="en-US" dirty="0"/>
              <a:t>, meaning more fraud cases were missed than with the other methods.</a:t>
            </a:r>
          </a:p>
        </p:txBody>
      </p:sp>
    </p:spTree>
    <p:extLst>
      <p:ext uri="{BB962C8B-B14F-4D97-AF65-F5344CB8AC3E}">
        <p14:creationId xmlns:p14="http://schemas.microsoft.com/office/powerpoint/2010/main" val="41530007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5EDF-24D4-DDD2-3FC2-B83BD23EF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RESULT &amp;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8AB03E-D6B4-614C-7CA3-E29FD03C1B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257075"/>
              </p:ext>
            </p:extLst>
          </p:nvPr>
        </p:nvGraphicFramePr>
        <p:xfrm>
          <a:off x="731520" y="2190334"/>
          <a:ext cx="1078071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142">
                  <a:extLst>
                    <a:ext uri="{9D8B030D-6E8A-4147-A177-3AD203B41FA5}">
                      <a16:colId xmlns:a16="http://schemas.microsoft.com/office/drawing/2014/main" val="2341180483"/>
                    </a:ext>
                  </a:extLst>
                </a:gridCol>
                <a:gridCol w="2156142">
                  <a:extLst>
                    <a:ext uri="{9D8B030D-6E8A-4147-A177-3AD203B41FA5}">
                      <a16:colId xmlns:a16="http://schemas.microsoft.com/office/drawing/2014/main" val="2676143788"/>
                    </a:ext>
                  </a:extLst>
                </a:gridCol>
                <a:gridCol w="2156142">
                  <a:extLst>
                    <a:ext uri="{9D8B030D-6E8A-4147-A177-3AD203B41FA5}">
                      <a16:colId xmlns:a16="http://schemas.microsoft.com/office/drawing/2014/main" val="3765974728"/>
                    </a:ext>
                  </a:extLst>
                </a:gridCol>
                <a:gridCol w="2156142">
                  <a:extLst>
                    <a:ext uri="{9D8B030D-6E8A-4147-A177-3AD203B41FA5}">
                      <a16:colId xmlns:a16="http://schemas.microsoft.com/office/drawing/2014/main" val="1546541994"/>
                    </a:ext>
                  </a:extLst>
                </a:gridCol>
                <a:gridCol w="2156142">
                  <a:extLst>
                    <a:ext uri="{9D8B030D-6E8A-4147-A177-3AD203B41FA5}">
                      <a16:colId xmlns:a16="http://schemas.microsoft.com/office/drawing/2014/main" val="4025136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AUPRC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947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 Weighting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2.84%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98.54%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5.52%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65.71%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510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Undersampling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2.82%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98.90%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5.48%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66.15%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490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Oversampling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11.58%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88.68%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20.49%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68.97%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01471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D7493F9-6C8C-014D-E76B-28260F8DBA94}"/>
              </a:ext>
            </a:extLst>
          </p:cNvPr>
          <p:cNvSpPr txBox="1"/>
          <p:nvPr/>
        </p:nvSpPr>
        <p:spPr>
          <a:xfrm>
            <a:off x="731520" y="4366011"/>
            <a:ext cx="9334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Class weighting and </a:t>
            </a:r>
            <a:r>
              <a:rPr lang="en-US" dirty="0" err="1"/>
              <a:t>undersampling</a:t>
            </a:r>
            <a:r>
              <a:rPr lang="en-US" dirty="0"/>
              <a:t> achieved very high recall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However, both produced too many false positives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Oversampling gave the best overall trade-off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Therefore, oversampling is the strongest candidate for the next modeling stage</a:t>
            </a:r>
          </a:p>
        </p:txBody>
      </p:sp>
    </p:spTree>
    <p:extLst>
      <p:ext uri="{BB962C8B-B14F-4D97-AF65-F5344CB8AC3E}">
        <p14:creationId xmlns:p14="http://schemas.microsoft.com/office/powerpoint/2010/main" val="16944419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9ED1-5A3F-F430-1C2F-7FF683419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WEEKS(WEEK-6)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87467-C6DB-4821-163E-A766323D0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Train </a:t>
            </a:r>
            <a:r>
              <a:rPr lang="en-US" b="1" dirty="0"/>
              <a:t>Random Forest</a:t>
            </a: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Train </a:t>
            </a:r>
            <a:r>
              <a:rPr lang="en-US" b="1" dirty="0" err="1"/>
              <a:t>XGBoost</a:t>
            </a: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Use the oversampled training set as the starting strategy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Compare both models using precision, recall, F1, AUPRC, and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37836921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40F0-2FE4-2CF4-3F66-5E9C74170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8555E-4B5F-14F3-C8B6-6E72A3CB8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Created stratified 80/20 train-test split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Tested class weighting, random </a:t>
            </a:r>
            <a:r>
              <a:rPr lang="en-US" dirty="0" err="1"/>
              <a:t>undersampling</a:t>
            </a:r>
            <a:r>
              <a:rPr lang="en-US" dirty="0"/>
              <a:t> and random oversampling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Evaluated all imbalance methods using the same Logistic Regression baseline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Selected random oversampling as the strongest overall candidate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0881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45DF9-4733-16C1-D1E2-3F1071B7B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WEEK(WEEK-6)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94428-C2B6-82DB-A1E4-3B1FB6B24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Train Random Forest on the oversampled training data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Train </a:t>
            </a:r>
            <a:r>
              <a:rPr lang="en-US" dirty="0" err="1"/>
              <a:t>XGBoost</a:t>
            </a:r>
            <a:r>
              <a:rPr lang="en-US" dirty="0"/>
              <a:t> using the same features and training data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Evaluate both models using Precision, Recall, F1-score, AUPRC and Confusion Matrix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Compare the models and identify the current leading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3867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3D01-43C3-2BD0-DF67-55D314F80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 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B3C46-8B6D-A0CC-45F4-8F76B588A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Used the oversampled training data with all 14 predictor features.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Built 50 decision trees and limited each tree to a maximum depth of 15.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Why these settings? 50 trees provide a practical baseline, while depth 15 gives enough complexity without letting each tree grow without limit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Random Forest combines predictions from many trees to make the final fraud decision.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4B338-CBE9-A21F-0387-1A6324D51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055" y="3697846"/>
            <a:ext cx="4446412" cy="266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156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8EB56-9285-8D98-ADE8-798544045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22C7FB-73D1-9435-1535-17FC41C34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520" y="1989983"/>
            <a:ext cx="3942700" cy="3411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22A74B-DA93-930E-8C8A-C6A435FF34BB}"/>
              </a:ext>
            </a:extLst>
          </p:cNvPr>
          <p:cNvSpPr txBox="1"/>
          <p:nvPr/>
        </p:nvSpPr>
        <p:spPr>
          <a:xfrm>
            <a:off x="5867400" y="2403196"/>
            <a:ext cx="4572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41414"/>
                </a:solidFill>
              </a:rPr>
              <a:t>Random Forest detected 1,639 of 1,643 fraud cases and produced zero false positives.</a:t>
            </a:r>
          </a:p>
          <a:p>
            <a:endParaRPr lang="en-US" dirty="0">
              <a:solidFill>
                <a:srgbClr val="14141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41414"/>
                </a:solidFill>
              </a:rPr>
              <a:t>Its AUPRC of 0.9987 greatly exceeds the project target of 0.75.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Current result: extremely strong fraud detection with only 4 missed fraud cases.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8830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06663-3DDF-1401-1EE9-CBE7253A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XGBOOST 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94DE0-BF45-C2D4-43E1-5DFFF1595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Used the same oversampled training data and the same 14 features for a fair comparison.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Built 100 boosted trees with maximum depth 6 and learning rate 0.1.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Each new tree tries to correct the errors made by the previous trees.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2A8301-771C-C477-F819-96A5EB9A6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606" y="3162197"/>
            <a:ext cx="4416794" cy="287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359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83E3-4282-E36E-0D83-282BF1E6F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XGBOOST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293235-0FC0-9649-156E-A982EF1E2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3920" y="2144493"/>
            <a:ext cx="4213214" cy="32685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74307B-F06D-7D67-1A95-B430001BB0CF}"/>
              </a:ext>
            </a:extLst>
          </p:cNvPr>
          <p:cNvSpPr txBox="1"/>
          <p:nvPr/>
        </p:nvSpPr>
        <p:spPr>
          <a:xfrm>
            <a:off x="6265333" y="2144493"/>
            <a:ext cx="41232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rgbClr val="141414"/>
                </a:solidFill>
              </a:rPr>
              <a:t>XGBoost</a:t>
            </a:r>
            <a:r>
              <a:rPr lang="en-US" dirty="0">
                <a:solidFill>
                  <a:srgbClr val="141414"/>
                </a:solidFill>
              </a:rPr>
              <a:t> also detected 1,639 of 1,643 fraud cases and missed only 4.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rgbClr val="14141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41414"/>
                </a:solidFill>
              </a:rPr>
              <a:t>It produced 31 false positives, while its AUPRC of 0.9987 also greatly exceeded the 0.75 target.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/>
              <a:t>XGBoost</a:t>
            </a:r>
            <a:r>
              <a:rPr lang="en-US" dirty="0"/>
              <a:t> performance is also extremely strong, but it produced more false positives than Random Forest.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7073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43BF1-9E42-ADEF-9A42-FE66D0BA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VS XGBOOST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8F992FF-B3B0-B85D-C132-7B01062406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6939771"/>
              </p:ext>
            </p:extLst>
          </p:nvPr>
        </p:nvGraphicFramePr>
        <p:xfrm>
          <a:off x="731838" y="1658938"/>
          <a:ext cx="1078071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3570">
                  <a:extLst>
                    <a:ext uri="{9D8B030D-6E8A-4147-A177-3AD203B41FA5}">
                      <a16:colId xmlns:a16="http://schemas.microsoft.com/office/drawing/2014/main" val="3248184014"/>
                    </a:ext>
                  </a:extLst>
                </a:gridCol>
                <a:gridCol w="3593570">
                  <a:extLst>
                    <a:ext uri="{9D8B030D-6E8A-4147-A177-3AD203B41FA5}">
                      <a16:colId xmlns:a16="http://schemas.microsoft.com/office/drawing/2014/main" val="868116418"/>
                    </a:ext>
                  </a:extLst>
                </a:gridCol>
                <a:gridCol w="3593570">
                  <a:extLst>
                    <a:ext uri="{9D8B030D-6E8A-4147-A177-3AD203B41FA5}">
                      <a16:colId xmlns:a16="http://schemas.microsoft.com/office/drawing/2014/main" val="2801769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928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100.00%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98.14%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898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99.76%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99.76%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0037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99.88%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98.94%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1222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AUPRC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99.87%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99.87%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079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False Positives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0822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False Negatives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4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92877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0F905E2-63F0-AA48-6C11-4A0910046675}"/>
              </a:ext>
            </a:extLst>
          </p:cNvPr>
          <p:cNvSpPr txBox="1"/>
          <p:nvPr/>
        </p:nvSpPr>
        <p:spPr>
          <a:xfrm>
            <a:off x="731520" y="4673600"/>
            <a:ext cx="9999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Both models greatly exceed the project AUPRC target of 0.75.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Random Forest is the current leading model because it achieved the same recall and AUPRC with 100% precision and zero false positives.</a:t>
            </a:r>
          </a:p>
        </p:txBody>
      </p:sp>
    </p:spTree>
    <p:extLst>
      <p:ext uri="{BB962C8B-B14F-4D97-AF65-F5344CB8AC3E}">
        <p14:creationId xmlns:p14="http://schemas.microsoft.com/office/powerpoint/2010/main" val="34081158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E521B-C8AE-726E-03AE-C1460CF66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 (WEEK-7)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9912C-18C6-4038-3EC1-7B18621F2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Perform deeper model evaluation and sanity checks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Confirm the final model selection between Random Forest and </a:t>
            </a:r>
            <a:r>
              <a:rPr lang="en-US" dirty="0" err="1"/>
              <a:t>XGBoost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Review false positives and false negatives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Prepare the selected model for SHAP explainability and error analysis</a:t>
            </a:r>
          </a:p>
        </p:txBody>
      </p:sp>
    </p:spTree>
    <p:extLst>
      <p:ext uri="{BB962C8B-B14F-4D97-AF65-F5344CB8AC3E}">
        <p14:creationId xmlns:p14="http://schemas.microsoft.com/office/powerpoint/2010/main" val="118826530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7451</TotalTime>
  <Words>2318</Words>
  <Application>Microsoft Office PowerPoint</Application>
  <PresentationFormat>Widescreen</PresentationFormat>
  <Paragraphs>252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Cambria Math</vt:lpstr>
      <vt:lpstr>Felix Titling</vt:lpstr>
      <vt:lpstr>Goudy Old Style</vt:lpstr>
      <vt:lpstr>Wingdings</vt:lpstr>
      <vt:lpstr>Archway</vt:lpstr>
      <vt:lpstr> FRAUD DETECTION FOR FINANCIAL RISK MANAGEMENT </vt:lpstr>
      <vt:lpstr>Previous Week</vt:lpstr>
      <vt:lpstr>Fraud Detection Basics</vt:lpstr>
      <vt:lpstr>PowerPoint Presentation</vt:lpstr>
      <vt:lpstr>Random Forest &amp; XGBoost</vt:lpstr>
      <vt:lpstr>Explainability : SHAP</vt:lpstr>
      <vt:lpstr>PowerPoint Presentation</vt:lpstr>
      <vt:lpstr>NEXT week:</vt:lpstr>
      <vt:lpstr>PREVIOUS WEEK</vt:lpstr>
      <vt:lpstr>THIS WEEK TASKS(WEEK -3) :</vt:lpstr>
      <vt:lpstr>Transaction amount analysis</vt:lpstr>
      <vt:lpstr>Sender and receiver balance behavior </vt:lpstr>
      <vt:lpstr>Fraud-rate behavior across time steps</vt:lpstr>
      <vt:lpstr>PowerPoint Presentation</vt:lpstr>
      <vt:lpstr>Numerical feature relationship analysis</vt:lpstr>
      <vt:lpstr>NEXT WEEK(WEEK -4 ) </vt:lpstr>
      <vt:lpstr>PREVIOUS WEEK</vt:lpstr>
      <vt:lpstr>THIS WEEK (WEEK-4)</vt:lpstr>
      <vt:lpstr>Evaluation Metrics - Confusion Matrix</vt:lpstr>
      <vt:lpstr>Accuracy</vt:lpstr>
      <vt:lpstr>Precision.</vt:lpstr>
      <vt:lpstr>Recall</vt:lpstr>
      <vt:lpstr>F1-SCORE</vt:lpstr>
      <vt:lpstr>CREATED FEATURES:sender balance consistency</vt:lpstr>
      <vt:lpstr>encoded the `type` column into numerical transaction-type features.</vt:lpstr>
      <vt:lpstr>CREATED FEATURES: HOUR OF THE DAY</vt:lpstr>
      <vt:lpstr>EXCLUDED VARIABLES</vt:lpstr>
      <vt:lpstr>Feature Engineering Summary</vt:lpstr>
      <vt:lpstr>PREVIOUS WEEK(WEEK-4)</vt:lpstr>
      <vt:lpstr>THIS week (week-5)</vt:lpstr>
      <vt:lpstr>TASKS DONE :</vt:lpstr>
      <vt:lpstr>SPLITTING THE DATA WITH IMBALNCE HANDLING</vt:lpstr>
      <vt:lpstr>CLASS WEIGHTING</vt:lpstr>
      <vt:lpstr>RANDOM UNDERSAMPLING</vt:lpstr>
      <vt:lpstr>RANDOM OVERSAMPLING</vt:lpstr>
      <vt:lpstr>FINAL RESULT &amp; COMPARISON</vt:lpstr>
      <vt:lpstr>NEXT WEEKS(WEEK-6)</vt:lpstr>
      <vt:lpstr>PREVIOUS WEEK</vt:lpstr>
      <vt:lpstr>THIS WEEK(WEEK-6)</vt:lpstr>
      <vt:lpstr>RANDOM FOREST MODEL DEVELOPMENT</vt:lpstr>
      <vt:lpstr>RANDOM FOREST RESULTS</vt:lpstr>
      <vt:lpstr>XGBOOST MODEL DEVELOPMENT</vt:lpstr>
      <vt:lpstr>XGBOOST RESULTS</vt:lpstr>
      <vt:lpstr>RANDOM FOREST VS XGBOOST</vt:lpstr>
      <vt:lpstr>NEXT WEEK (WEEK-7)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Perugu, Raja</dc:creator>
  <cp:lastModifiedBy>Perugu, Raja</cp:lastModifiedBy>
  <cp:revision>9</cp:revision>
  <dcterms:created xsi:type="dcterms:W3CDTF">2026-09-20T18:43:31Z</dcterms:created>
  <dcterms:modified xsi:type="dcterms:W3CDTF">2026-10-21T04:51:24Z</dcterms:modified>
</cp:coreProperties>
</file>